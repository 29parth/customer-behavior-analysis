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Nunito Semi Bold"/>
      <p:regular r:id="rId17"/>
    </p:embeddedFont>
    <p:embeddedFont>
      <p:font typeface="Nunito Semi Bold"/>
      <p:regular r:id="rId18"/>
    </p:embeddedFont>
    <p:embeddedFont>
      <p:font typeface="Nunito Semi Bold"/>
      <p:regular r:id="rId19"/>
    </p:embeddedFont>
    <p:embeddedFont>
      <p:font typeface="Nunito Semi Bold"/>
      <p:regular r:id="rId20"/>
    </p:embeddedFont>
    <p:embeddedFont>
      <p:font typeface="PT Sans"/>
      <p:regular r:id="rId21"/>
    </p:embeddedFont>
    <p:embeddedFont>
      <p:font typeface="PT Sans"/>
      <p:regular r:id="rId22"/>
    </p:embeddedFont>
    <p:embeddedFont>
      <p:font typeface="PT Sans"/>
      <p:regular r:id="rId23"/>
    </p:embeddedFont>
    <p:embeddedFont>
      <p:font typeface="PT Sans"/>
      <p:regular r:id="rId24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Relationship Id="rId23" Type="http://schemas.openxmlformats.org/officeDocument/2006/relationships/font" Target="fonts/font7.fntdata"/><Relationship Id="rId24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2" Type="http://schemas.openxmlformats.org/officeDocument/2006/relationships/image" Target="../media/image-1004-2.png"/><Relationship Id="rId4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2" Type="http://schemas.openxmlformats.org/officeDocument/2006/relationships/image" Target="../media/image-1005-2.png"/><Relationship Id="rId4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2" Type="http://schemas.openxmlformats.org/officeDocument/2006/relationships/image" Target="../media/image-1006-2.png"/><Relationship Id="rId4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2" Type="http://schemas.openxmlformats.org/officeDocument/2006/relationships/image" Target="../media/image-1007-2.png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2" Type="http://schemas.openxmlformats.org/officeDocument/2006/relationships/image" Target="../media/image-1008-2.png"/><Relationship Id="rId4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2" Type="http://schemas.openxmlformats.org/officeDocument/2006/relationships/image" Target="../media/image-1009-2.png"/><Relationship Id="rId4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2" Type="http://schemas.openxmlformats.org/officeDocument/2006/relationships/image" Target="../media/image-1010-2.png"/><Relationship Id="rId4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2" Type="http://schemas.openxmlformats.org/officeDocument/2006/relationships/image" Target="../media/image-1011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F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F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F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F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F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F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F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F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F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F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6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8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svg"/><Relationship Id="rId4" Type="http://schemas.openxmlformats.org/officeDocument/2006/relationships/image" Target="../media/image-9-4.png"/><Relationship Id="rId5" Type="http://schemas.openxmlformats.org/officeDocument/2006/relationships/image" Target="../media/image-9-5.svg"/><Relationship Id="rId6" Type="http://schemas.openxmlformats.org/officeDocument/2006/relationships/image" Target="../media/image-9-6.png"/><Relationship Id="rId7" Type="http://schemas.openxmlformats.org/officeDocument/2006/relationships/image" Target="../media/image-9-7.svg"/><Relationship Id="rId8" Type="http://schemas.openxmlformats.org/officeDocument/2006/relationships/image" Target="../media/image-9-8.png"/><Relationship Id="rId9" Type="http://schemas.openxmlformats.org/officeDocument/2006/relationships/image" Target="../media/image-9-9.svg"/><Relationship Id="rId10" Type="http://schemas.openxmlformats.org/officeDocument/2006/relationships/slideLayout" Target="../slideLayouts/slideLayout10.xml"/><Relationship Id="rId11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svg"/><Relationship Id="rId4" Type="http://schemas.openxmlformats.org/officeDocument/2006/relationships/image" Target="../media/image-10-4.png"/><Relationship Id="rId5" Type="http://schemas.openxmlformats.org/officeDocument/2006/relationships/image" Target="../media/image-10-5.svg"/><Relationship Id="rId6" Type="http://schemas.openxmlformats.org/officeDocument/2006/relationships/image" Target="../media/image-10-6.png"/><Relationship Id="rId7" Type="http://schemas.openxmlformats.org/officeDocument/2006/relationships/image" Target="../media/image-10-7.svg"/><Relationship Id="rId8" Type="http://schemas.openxmlformats.org/officeDocument/2006/relationships/image" Target="../media/image-10-8.png"/><Relationship Id="rId9" Type="http://schemas.openxmlformats.org/officeDocument/2006/relationships/image" Target="../media/image-10-9.svg"/><Relationship Id="rId10" Type="http://schemas.openxmlformats.org/officeDocument/2006/relationships/slideLayout" Target="../slideLayouts/slideLayout11.xml"/><Relationship Id="rId11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7724" y="2848213"/>
            <a:ext cx="7468553" cy="1408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Customer Shopping Behavior Analysis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837724" y="4615220"/>
            <a:ext cx="7468553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Transactional data insights across </a:t>
            </a:r>
            <a:pPr algn="l" indent="0" marL="0">
              <a:lnSpc>
                <a:spcPts val="3000"/>
              </a:lnSpc>
              <a:buNone/>
            </a:pPr>
            <a:r>
              <a:rPr lang="en-US" sz="1850" b="1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~3,900 records</a:t>
            </a:r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— spending trends, segmentation, product preferences &amp; subscription behavior</a:t>
            </a:r>
            <a:endParaRPr lang="en-US" sz="1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4627" y="687348"/>
            <a:ext cx="5544383" cy="693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450"/>
              </a:lnSpc>
              <a:buNone/>
            </a:pPr>
            <a:r>
              <a:rPr lang="en-US" sz="43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Dataset at a Glance</a:t>
            </a:r>
            <a:endParaRPr lang="en-US" sz="4350" dirty="0"/>
          </a:p>
        </p:txBody>
      </p:sp>
      <p:sp>
        <p:nvSpPr>
          <p:cNvPr id="3" name="Text 1"/>
          <p:cNvSpPr/>
          <p:nvPr/>
        </p:nvSpPr>
        <p:spPr>
          <a:xfrm>
            <a:off x="824627" y="1962031"/>
            <a:ext cx="6345555" cy="7775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6100"/>
              </a:lnSpc>
              <a:buNone/>
            </a:pPr>
            <a:r>
              <a:rPr lang="en-US" sz="61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3,900</a:t>
            </a:r>
            <a:endParaRPr lang="en-US" sz="6100" dirty="0"/>
          </a:p>
        </p:txBody>
      </p:sp>
      <p:sp>
        <p:nvSpPr>
          <p:cNvPr id="4" name="Text 2"/>
          <p:cNvSpPr/>
          <p:nvPr/>
        </p:nvSpPr>
        <p:spPr>
          <a:xfrm>
            <a:off x="2611279" y="3031331"/>
            <a:ext cx="2772132" cy="346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Total Records</a:t>
            </a:r>
            <a:endParaRPr lang="en-US" sz="2150" dirty="0"/>
          </a:p>
        </p:txBody>
      </p:sp>
      <p:sp>
        <p:nvSpPr>
          <p:cNvPr id="5" name="Text 3"/>
          <p:cNvSpPr/>
          <p:nvPr/>
        </p:nvSpPr>
        <p:spPr>
          <a:xfrm>
            <a:off x="7460099" y="1962031"/>
            <a:ext cx="6345674" cy="7775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6100"/>
              </a:lnSpc>
              <a:buNone/>
            </a:pPr>
            <a:r>
              <a:rPr lang="en-US" sz="61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18</a:t>
            </a:r>
            <a:endParaRPr lang="en-US" sz="6100" dirty="0"/>
          </a:p>
        </p:txBody>
      </p:sp>
      <p:sp>
        <p:nvSpPr>
          <p:cNvPr id="6" name="Text 4"/>
          <p:cNvSpPr/>
          <p:nvPr/>
        </p:nvSpPr>
        <p:spPr>
          <a:xfrm>
            <a:off x="9246870" y="3031331"/>
            <a:ext cx="2772132" cy="346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Attributes</a:t>
            </a:r>
            <a:endParaRPr lang="en-US" sz="2150" dirty="0"/>
          </a:p>
        </p:txBody>
      </p:sp>
      <p:sp>
        <p:nvSpPr>
          <p:cNvPr id="7" name="Text 5"/>
          <p:cNvSpPr/>
          <p:nvPr/>
        </p:nvSpPr>
        <p:spPr>
          <a:xfrm>
            <a:off x="824627" y="3959423"/>
            <a:ext cx="6345555" cy="7775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6100"/>
              </a:lnSpc>
              <a:buNone/>
            </a:pPr>
            <a:r>
              <a:rPr lang="en-US" sz="61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37</a:t>
            </a:r>
            <a:endParaRPr lang="en-US" sz="6100" dirty="0"/>
          </a:p>
        </p:txBody>
      </p:sp>
      <p:sp>
        <p:nvSpPr>
          <p:cNvPr id="8" name="Text 6"/>
          <p:cNvSpPr/>
          <p:nvPr/>
        </p:nvSpPr>
        <p:spPr>
          <a:xfrm>
            <a:off x="2611279" y="5028724"/>
            <a:ext cx="2772132" cy="346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Missing Ratings</a:t>
            </a:r>
            <a:endParaRPr lang="en-US" sz="2150" dirty="0"/>
          </a:p>
        </p:txBody>
      </p:sp>
      <p:sp>
        <p:nvSpPr>
          <p:cNvPr id="9" name="Text 7"/>
          <p:cNvSpPr/>
          <p:nvPr/>
        </p:nvSpPr>
        <p:spPr>
          <a:xfrm>
            <a:off x="824627" y="5514261"/>
            <a:ext cx="6345555" cy="373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9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review_rating column</a:t>
            </a:r>
            <a:endParaRPr lang="en-US" sz="1850" dirty="0"/>
          </a:p>
        </p:txBody>
      </p:sp>
      <p:sp>
        <p:nvSpPr>
          <p:cNvPr id="10" name="Text 8"/>
          <p:cNvSpPr/>
          <p:nvPr/>
        </p:nvSpPr>
        <p:spPr>
          <a:xfrm>
            <a:off x="7460099" y="3959423"/>
            <a:ext cx="6345674" cy="7775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6100"/>
              </a:lnSpc>
              <a:buNone/>
            </a:pPr>
            <a:r>
              <a:rPr lang="en-US" sz="61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$59.76</a:t>
            </a:r>
            <a:endParaRPr lang="en-US" sz="6100" dirty="0"/>
          </a:p>
        </p:txBody>
      </p:sp>
      <p:sp>
        <p:nvSpPr>
          <p:cNvPr id="11" name="Text 9"/>
          <p:cNvSpPr/>
          <p:nvPr/>
        </p:nvSpPr>
        <p:spPr>
          <a:xfrm>
            <a:off x="9246870" y="5028724"/>
            <a:ext cx="2772132" cy="346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Avg Purchase</a:t>
            </a:r>
            <a:endParaRPr lang="en-US" sz="2150" dirty="0"/>
          </a:p>
        </p:txBody>
      </p:sp>
      <p:sp>
        <p:nvSpPr>
          <p:cNvPr id="12" name="Text 10"/>
          <p:cNvSpPr/>
          <p:nvPr/>
        </p:nvSpPr>
        <p:spPr>
          <a:xfrm>
            <a:off x="824627" y="6381036"/>
            <a:ext cx="2772132" cy="346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Customer Data</a:t>
            </a:r>
            <a:endParaRPr lang="en-US" sz="2150" dirty="0"/>
          </a:p>
        </p:txBody>
      </p:sp>
      <p:sp>
        <p:nvSpPr>
          <p:cNvPr id="13" name="Text 11"/>
          <p:cNvSpPr/>
          <p:nvPr/>
        </p:nvSpPr>
        <p:spPr>
          <a:xfrm>
            <a:off x="824627" y="6959441"/>
            <a:ext cx="6203156" cy="373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Age, gender, location, subscription status</a:t>
            </a:r>
            <a:endParaRPr lang="en-US" sz="1850" dirty="0"/>
          </a:p>
        </p:txBody>
      </p:sp>
      <p:sp>
        <p:nvSpPr>
          <p:cNvPr id="14" name="Text 12"/>
          <p:cNvSpPr/>
          <p:nvPr/>
        </p:nvSpPr>
        <p:spPr>
          <a:xfrm>
            <a:off x="7610237" y="6381036"/>
            <a:ext cx="2772132" cy="346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Purchase Data</a:t>
            </a:r>
            <a:endParaRPr lang="en-US" sz="2150" dirty="0"/>
          </a:p>
        </p:txBody>
      </p:sp>
      <p:sp>
        <p:nvSpPr>
          <p:cNvPr id="15" name="Text 13"/>
          <p:cNvSpPr/>
          <p:nvPr/>
        </p:nvSpPr>
        <p:spPr>
          <a:xfrm>
            <a:off x="7610237" y="6959441"/>
            <a:ext cx="6203156" cy="373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Product, category, price, season, size, color</a:t>
            </a:r>
            <a:endParaRPr lang="en-US" sz="1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19468" y="649724"/>
            <a:ext cx="6195536" cy="615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8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Data Preparation — Python</a:t>
            </a:r>
            <a:endParaRPr lang="en-US" sz="3850" dirty="0"/>
          </a:p>
        </p:txBody>
      </p:sp>
      <p:sp>
        <p:nvSpPr>
          <p:cNvPr id="4" name="Text 1"/>
          <p:cNvSpPr/>
          <p:nvPr/>
        </p:nvSpPr>
        <p:spPr>
          <a:xfrm>
            <a:off x="6219468" y="1540431"/>
            <a:ext cx="418862" cy="261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600" dirty="0">
                <a:solidFill>
                  <a:srgbClr val="00002E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01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6219468" y="1873448"/>
            <a:ext cx="7677864" cy="22860"/>
          </a:xfrm>
          <a:prstGeom prst="rect">
            <a:avLst/>
          </a:prstGeom>
          <a:solidFill>
            <a:srgbClr val="2D4DF2"/>
          </a:solidFill>
          <a:ln/>
        </p:spPr>
      </p:sp>
      <p:sp>
        <p:nvSpPr>
          <p:cNvPr id="6" name="Text 3"/>
          <p:cNvSpPr/>
          <p:nvPr/>
        </p:nvSpPr>
        <p:spPr>
          <a:xfrm>
            <a:off x="6219468" y="2023824"/>
            <a:ext cx="2464118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Import &amp; Inspect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6219468" y="2441734"/>
            <a:ext cx="7677864" cy="3140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6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pandas, info(), describe()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219468" y="3096101"/>
            <a:ext cx="418862" cy="261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600" dirty="0">
                <a:solidFill>
                  <a:srgbClr val="00002E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02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219468" y="3429119"/>
            <a:ext cx="7677864" cy="22860"/>
          </a:xfrm>
          <a:prstGeom prst="rect">
            <a:avLst/>
          </a:prstGeom>
          <a:solidFill>
            <a:srgbClr val="018CE1"/>
          </a:solidFill>
          <a:ln/>
        </p:spPr>
      </p:sp>
      <p:sp>
        <p:nvSpPr>
          <p:cNvPr id="10" name="Text 7"/>
          <p:cNvSpPr/>
          <p:nvPr/>
        </p:nvSpPr>
        <p:spPr>
          <a:xfrm>
            <a:off x="6219468" y="3579495"/>
            <a:ext cx="2561034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Handle Missing Values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6219468" y="3997404"/>
            <a:ext cx="7677864" cy="3140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6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Median fill by product category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219468" y="4651772"/>
            <a:ext cx="418862" cy="261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600" dirty="0">
                <a:solidFill>
                  <a:srgbClr val="00002E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03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6219468" y="4984790"/>
            <a:ext cx="7677864" cy="22860"/>
          </a:xfrm>
          <a:prstGeom prst="rect">
            <a:avLst/>
          </a:prstGeom>
          <a:solidFill>
            <a:srgbClr val="DA33BF"/>
          </a:solidFill>
          <a:ln/>
        </p:spPr>
      </p:sp>
      <p:sp>
        <p:nvSpPr>
          <p:cNvPr id="14" name="Text 11"/>
          <p:cNvSpPr/>
          <p:nvPr/>
        </p:nvSpPr>
        <p:spPr>
          <a:xfrm>
            <a:off x="6219468" y="5135166"/>
            <a:ext cx="2464118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Feature Engineering</a:t>
            </a:r>
            <a:endParaRPr lang="en-US" sz="1900" dirty="0"/>
          </a:p>
        </p:txBody>
      </p:sp>
      <p:sp>
        <p:nvSpPr>
          <p:cNvPr id="15" name="Text 12"/>
          <p:cNvSpPr/>
          <p:nvPr/>
        </p:nvSpPr>
        <p:spPr>
          <a:xfrm>
            <a:off x="6219468" y="5553075"/>
            <a:ext cx="7677864" cy="3140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6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age_group, purchase_frequency_days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6219468" y="6207443"/>
            <a:ext cx="418862" cy="261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600" dirty="0">
                <a:solidFill>
                  <a:srgbClr val="00002E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04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6219468" y="6540460"/>
            <a:ext cx="7677864" cy="22860"/>
          </a:xfrm>
          <a:prstGeom prst="rect">
            <a:avLst/>
          </a:prstGeom>
          <a:solidFill>
            <a:srgbClr val="2D4DF2"/>
          </a:solidFill>
          <a:ln/>
        </p:spPr>
      </p:sp>
      <p:sp>
        <p:nvSpPr>
          <p:cNvPr id="18" name="Text 15"/>
          <p:cNvSpPr/>
          <p:nvPr/>
        </p:nvSpPr>
        <p:spPr>
          <a:xfrm>
            <a:off x="6219468" y="6690836"/>
            <a:ext cx="2464118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Clean &amp; Load</a:t>
            </a:r>
            <a:endParaRPr lang="en-US" sz="1900" dirty="0"/>
          </a:p>
        </p:txBody>
      </p:sp>
      <p:sp>
        <p:nvSpPr>
          <p:cNvPr id="19" name="Text 16"/>
          <p:cNvSpPr/>
          <p:nvPr/>
        </p:nvSpPr>
        <p:spPr>
          <a:xfrm>
            <a:off x="6219468" y="7108746"/>
            <a:ext cx="7677864" cy="3140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6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snake_case, removed promo_code, PostgreSQL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1582103"/>
            <a:ext cx="5632490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Revenue by Gender</a:t>
            </a:r>
            <a:endParaRPr lang="en-US" sz="4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7724" y="2914293"/>
            <a:ext cx="6185535" cy="390024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614761" y="2884408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Key Insight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614761" y="3475673"/>
            <a:ext cx="6185535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Male customers generated </a:t>
            </a:r>
            <a:pPr algn="l" indent="0" marL="0">
              <a:lnSpc>
                <a:spcPts val="3000"/>
              </a:lnSpc>
              <a:buNone/>
            </a:pPr>
            <a:r>
              <a:rPr lang="en-US" sz="1850" b="1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2.1x more revenue</a:t>
            </a:r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than female customers</a:t>
            </a:r>
            <a:endParaRPr lang="en-US" sz="1850" dirty="0"/>
          </a:p>
        </p:txBody>
      </p:sp>
      <p:sp>
        <p:nvSpPr>
          <p:cNvPr id="6" name="Shape 3"/>
          <p:cNvSpPr/>
          <p:nvPr/>
        </p:nvSpPr>
        <p:spPr>
          <a:xfrm>
            <a:off x="7614761" y="4510921"/>
            <a:ext cx="2973110" cy="1513880"/>
          </a:xfrm>
          <a:prstGeom prst="roundRect">
            <a:avLst>
              <a:gd name="adj" fmla="val 23719"/>
            </a:avLst>
          </a:prstGeom>
          <a:solidFill>
            <a:srgbClr val="F3F3FF">
              <a:alpha val="75000"/>
            </a:srgbClr>
          </a:solidFill>
          <a:ln w="30480">
            <a:solidFill>
              <a:srgbClr val="2D4DF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884557" y="4780717"/>
            <a:ext cx="2433518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Male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7884557" y="5371981"/>
            <a:ext cx="2433518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$157,890 total</a:t>
            </a:r>
            <a:endParaRPr lang="en-US" sz="1850" dirty="0"/>
          </a:p>
        </p:txBody>
      </p:sp>
      <p:sp>
        <p:nvSpPr>
          <p:cNvPr id="9" name="Shape 6"/>
          <p:cNvSpPr/>
          <p:nvPr/>
        </p:nvSpPr>
        <p:spPr>
          <a:xfrm>
            <a:off x="10827187" y="4510921"/>
            <a:ext cx="2973110" cy="1513880"/>
          </a:xfrm>
          <a:prstGeom prst="roundRect">
            <a:avLst>
              <a:gd name="adj" fmla="val 23719"/>
            </a:avLst>
          </a:prstGeom>
          <a:solidFill>
            <a:srgbClr val="F3F3FF">
              <a:alpha val="75000"/>
            </a:srgbClr>
          </a:solidFill>
          <a:ln w="30480">
            <a:solidFill>
              <a:srgbClr val="018CE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1096982" y="4780717"/>
            <a:ext cx="2433518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Female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11096982" y="5371981"/>
            <a:ext cx="2433518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$75,191 total</a:t>
            </a:r>
            <a:endParaRPr lang="en-US" sz="1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1286470"/>
            <a:ext cx="10088642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Top-Rated Products &amp; Discount Drivers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37724" y="2588776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Top 5 by Rating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7724" y="3209925"/>
            <a:ext cx="6185535" cy="390024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614761" y="2588776"/>
            <a:ext cx="3369469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Most Discounted Products</a:t>
            </a:r>
            <a:endParaRPr lang="en-US" sz="22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4761" y="3209925"/>
            <a:ext cx="6185535" cy="390024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8552" y="627340"/>
            <a:ext cx="5941100" cy="671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250"/>
              </a:lnSpc>
              <a:buNone/>
            </a:pPr>
            <a:r>
              <a:rPr lang="en-US" sz="42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Customer Segmentation</a:t>
            </a:r>
            <a:endParaRPr lang="en-US" sz="42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8552" y="1869043"/>
            <a:ext cx="6238399" cy="371713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601069" y="1841897"/>
            <a:ext cx="2684145" cy="3353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1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Segment Breakdown</a:t>
            </a:r>
            <a:endParaRPr lang="en-US" sz="2100" dirty="0"/>
          </a:p>
        </p:txBody>
      </p:sp>
      <p:sp>
        <p:nvSpPr>
          <p:cNvPr id="5" name="Shape 2"/>
          <p:cNvSpPr/>
          <p:nvPr/>
        </p:nvSpPr>
        <p:spPr>
          <a:xfrm>
            <a:off x="7601069" y="2421850"/>
            <a:ext cx="3010495" cy="1767483"/>
          </a:xfrm>
          <a:prstGeom prst="roundRect">
            <a:avLst>
              <a:gd name="adj" fmla="val 19363"/>
            </a:avLst>
          </a:prstGeom>
          <a:solidFill>
            <a:srgbClr val="F3F3FF"/>
          </a:solidFill>
          <a:ln w="22860">
            <a:solidFill>
              <a:srgbClr val="2D4DF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852053" y="2672834"/>
            <a:ext cx="2508528" cy="3353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1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Loyal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7852053" y="3225641"/>
            <a:ext cx="2508528" cy="712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3,116 customers — dominant segment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10828973" y="2421850"/>
            <a:ext cx="3010495" cy="1767483"/>
          </a:xfrm>
          <a:prstGeom prst="roundRect">
            <a:avLst>
              <a:gd name="adj" fmla="val 19363"/>
            </a:avLst>
          </a:prstGeom>
          <a:solidFill>
            <a:srgbClr val="F3F3FF"/>
          </a:solidFill>
          <a:ln w="22860">
            <a:solidFill>
              <a:srgbClr val="018CE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1079956" y="2672834"/>
            <a:ext cx="2508528" cy="3353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1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Returning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11079956" y="3225641"/>
            <a:ext cx="2508528" cy="3563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701 customers</a:t>
            </a:r>
            <a:endParaRPr lang="en-US" sz="1750" dirty="0"/>
          </a:p>
        </p:txBody>
      </p:sp>
      <p:sp>
        <p:nvSpPr>
          <p:cNvPr id="11" name="Shape 8"/>
          <p:cNvSpPr/>
          <p:nvPr/>
        </p:nvSpPr>
        <p:spPr>
          <a:xfrm>
            <a:off x="7601069" y="4406741"/>
            <a:ext cx="6238399" cy="1411129"/>
          </a:xfrm>
          <a:prstGeom prst="roundRect">
            <a:avLst>
              <a:gd name="adj" fmla="val 24253"/>
            </a:avLst>
          </a:prstGeom>
          <a:solidFill>
            <a:srgbClr val="F3F3FF"/>
          </a:solidFill>
          <a:ln w="22860">
            <a:solidFill>
              <a:srgbClr val="DA33B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852053" y="4657725"/>
            <a:ext cx="2684145" cy="3353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1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New</a:t>
            </a:r>
            <a:endParaRPr lang="en-US" sz="2100" dirty="0"/>
          </a:p>
        </p:txBody>
      </p:sp>
      <p:sp>
        <p:nvSpPr>
          <p:cNvPr id="13" name="Text 10"/>
          <p:cNvSpPr/>
          <p:nvPr/>
        </p:nvSpPr>
        <p:spPr>
          <a:xfrm>
            <a:off x="7852053" y="5210532"/>
            <a:ext cx="5736431" cy="3563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83 customers — growth opportunity</a:t>
            </a:r>
            <a:endParaRPr lang="en-US" sz="1750" dirty="0"/>
          </a:p>
        </p:txBody>
      </p:sp>
      <p:sp>
        <p:nvSpPr>
          <p:cNvPr id="14" name="Shape 11"/>
          <p:cNvSpPr/>
          <p:nvPr/>
        </p:nvSpPr>
        <p:spPr>
          <a:xfrm>
            <a:off x="7601069" y="6062424"/>
            <a:ext cx="6238399" cy="1296829"/>
          </a:xfrm>
          <a:prstGeom prst="roundRect">
            <a:avLst>
              <a:gd name="adj" fmla="val 26391"/>
            </a:avLst>
          </a:prstGeom>
          <a:solidFill>
            <a:srgbClr val="B6D6FC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9193" y="6406991"/>
            <a:ext cx="285155" cy="22812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8342471" y="6336863"/>
            <a:ext cx="5268873" cy="712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839 high-value discount users identified spending above average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1286470"/>
            <a:ext cx="8345567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Subscription &amp; Shipping Insights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37724" y="2588776"/>
            <a:ext cx="4073723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Subscribers vs Non-Subscribers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837724" y="3209925"/>
            <a:ext cx="693777" cy="164544"/>
          </a:xfrm>
          <a:prstGeom prst="roundRect">
            <a:avLst>
              <a:gd name="adj" fmla="val 77800"/>
            </a:avLst>
          </a:prstGeom>
          <a:solidFill>
            <a:srgbClr val="FFFFFF">
              <a:alpha val="20000"/>
            </a:srgbClr>
          </a:solidFill>
          <a:ln w="7620">
            <a:solidFill>
              <a:srgbClr val="000000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064" y="3246477"/>
            <a:ext cx="91440" cy="914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12984" y="3232785"/>
            <a:ext cx="465177" cy="118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00" dirty="0">
                <a:solidFill>
                  <a:srgbClr val="00002E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Customers</a:t>
            </a:r>
            <a:endParaRPr lang="en-US" sz="700" dirty="0"/>
          </a:p>
        </p:txBody>
      </p:sp>
      <p:sp>
        <p:nvSpPr>
          <p:cNvPr id="7" name="Shape 4"/>
          <p:cNvSpPr/>
          <p:nvPr/>
        </p:nvSpPr>
        <p:spPr>
          <a:xfrm>
            <a:off x="1592461" y="3209925"/>
            <a:ext cx="860346" cy="164544"/>
          </a:xfrm>
          <a:prstGeom prst="roundRect">
            <a:avLst>
              <a:gd name="adj" fmla="val 77800"/>
            </a:avLst>
          </a:prstGeom>
          <a:solidFill>
            <a:srgbClr val="FFFFFF">
              <a:alpha val="20000"/>
            </a:srgbClr>
          </a:solidFill>
          <a:ln w="7620">
            <a:solidFill>
              <a:srgbClr val="000000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801" y="3246477"/>
            <a:ext cx="91440" cy="914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767721" y="3232785"/>
            <a:ext cx="631746" cy="118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00" dirty="0">
                <a:solidFill>
                  <a:srgbClr val="00002E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Revenue (USD)</a:t>
            </a:r>
            <a:endParaRPr lang="en-US" sz="7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724" y="3450669"/>
            <a:ext cx="6185535" cy="3656409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614761" y="2588776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Shipping Type Impact</a:t>
            </a:r>
            <a:endParaRPr lang="en-US" sz="2200" dirty="0"/>
          </a:p>
        </p:txBody>
      </p:sp>
      <p:sp>
        <p:nvSpPr>
          <p:cNvPr id="12" name="Shape 7"/>
          <p:cNvSpPr/>
          <p:nvPr/>
        </p:nvSpPr>
        <p:spPr>
          <a:xfrm>
            <a:off x="7614761" y="3209925"/>
            <a:ext cx="2973110" cy="1865828"/>
          </a:xfrm>
          <a:prstGeom prst="roundRect">
            <a:avLst>
              <a:gd name="adj" fmla="val 7841"/>
            </a:avLst>
          </a:prstGeom>
          <a:solidFill>
            <a:srgbClr val="F3F3FF">
              <a:alpha val="75000"/>
            </a:srgbClr>
          </a:solidFill>
          <a:ln w="30480">
            <a:solidFill>
              <a:srgbClr val="2D4DF2"/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>
            <a:off x="7584281" y="3209925"/>
            <a:ext cx="121920" cy="1865828"/>
          </a:xfrm>
          <a:prstGeom prst="roundRect">
            <a:avLst>
              <a:gd name="adj" fmla="val 294514"/>
            </a:avLst>
          </a:prstGeom>
          <a:solidFill>
            <a:srgbClr val="2D4DF2"/>
          </a:solidFill>
          <a:ln/>
        </p:spPr>
      </p:sp>
      <p:sp>
        <p:nvSpPr>
          <p:cNvPr id="14" name="Text 9"/>
          <p:cNvSpPr/>
          <p:nvPr/>
        </p:nvSpPr>
        <p:spPr>
          <a:xfrm>
            <a:off x="7975997" y="3479721"/>
            <a:ext cx="2342078" cy="7038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Standard Shipping</a:t>
            </a:r>
            <a:endParaRPr lang="en-US" sz="2200" dirty="0"/>
          </a:p>
        </p:txBody>
      </p:sp>
      <p:sp>
        <p:nvSpPr>
          <p:cNvPr id="15" name="Text 10"/>
          <p:cNvSpPr/>
          <p:nvPr/>
        </p:nvSpPr>
        <p:spPr>
          <a:xfrm>
            <a:off x="7975997" y="4422934"/>
            <a:ext cx="2342078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Avg order: </a:t>
            </a:r>
            <a:pPr algn="l" indent="0" marL="0">
              <a:lnSpc>
                <a:spcPts val="3000"/>
              </a:lnSpc>
              <a:buNone/>
            </a:pPr>
            <a:r>
              <a:rPr lang="en-US" sz="1850" b="1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$58.46</a:t>
            </a:r>
            <a:endParaRPr lang="en-US" sz="1850" dirty="0"/>
          </a:p>
        </p:txBody>
      </p:sp>
      <p:sp>
        <p:nvSpPr>
          <p:cNvPr id="16" name="Shape 11"/>
          <p:cNvSpPr/>
          <p:nvPr/>
        </p:nvSpPr>
        <p:spPr>
          <a:xfrm>
            <a:off x="10827187" y="3209925"/>
            <a:ext cx="2973110" cy="1865828"/>
          </a:xfrm>
          <a:prstGeom prst="roundRect">
            <a:avLst>
              <a:gd name="adj" fmla="val 7841"/>
            </a:avLst>
          </a:prstGeom>
          <a:solidFill>
            <a:srgbClr val="F3F3FF">
              <a:alpha val="75000"/>
            </a:srgbClr>
          </a:solidFill>
          <a:ln w="30480">
            <a:solidFill>
              <a:srgbClr val="018CE1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10796707" y="3209925"/>
            <a:ext cx="121920" cy="1865828"/>
          </a:xfrm>
          <a:prstGeom prst="roundRect">
            <a:avLst>
              <a:gd name="adj" fmla="val 294514"/>
            </a:avLst>
          </a:prstGeom>
          <a:solidFill>
            <a:srgbClr val="018CE1"/>
          </a:solidFill>
          <a:ln/>
        </p:spPr>
      </p:sp>
      <p:sp>
        <p:nvSpPr>
          <p:cNvPr id="18" name="Text 13"/>
          <p:cNvSpPr/>
          <p:nvPr/>
        </p:nvSpPr>
        <p:spPr>
          <a:xfrm>
            <a:off x="11188422" y="3479721"/>
            <a:ext cx="2342078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Express Shipping</a:t>
            </a:r>
            <a:endParaRPr lang="en-US" sz="2200" dirty="0"/>
          </a:p>
        </p:txBody>
      </p:sp>
      <p:sp>
        <p:nvSpPr>
          <p:cNvPr id="19" name="Text 14"/>
          <p:cNvSpPr/>
          <p:nvPr/>
        </p:nvSpPr>
        <p:spPr>
          <a:xfrm>
            <a:off x="11188422" y="4070985"/>
            <a:ext cx="2342078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Avg order: </a:t>
            </a:r>
            <a:pPr algn="l" indent="0" marL="0">
              <a:lnSpc>
                <a:spcPts val="3000"/>
              </a:lnSpc>
              <a:buNone/>
            </a:pPr>
            <a:r>
              <a:rPr lang="en-US" sz="1850" b="1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$60.48</a:t>
            </a:r>
            <a:endParaRPr lang="en-US" sz="1850" dirty="0"/>
          </a:p>
        </p:txBody>
      </p:sp>
      <p:sp>
        <p:nvSpPr>
          <p:cNvPr id="20" name="Text 15"/>
          <p:cNvSpPr/>
          <p:nvPr/>
        </p:nvSpPr>
        <p:spPr>
          <a:xfrm>
            <a:off x="7614761" y="5344954"/>
            <a:ext cx="6185535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Express buyers spend </a:t>
            </a:r>
            <a:pPr algn="l" indent="0" marL="0">
              <a:lnSpc>
                <a:spcPts val="3000"/>
              </a:lnSpc>
              <a:buNone/>
            </a:pPr>
            <a:r>
              <a:rPr lang="en-US" sz="1850" b="1" dirty="0">
                <a:solidFill>
                  <a:srgbClr val="2D4DF2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$2.02 more</a:t>
            </a:r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per order on average</a:t>
            </a:r>
            <a:endParaRPr lang="en-US" sz="1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1582103"/>
            <a:ext cx="5915025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Revenue by Age Group</a:t>
            </a:r>
            <a:endParaRPr lang="en-US" sz="4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7724" y="2914293"/>
            <a:ext cx="6185535" cy="390024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614761" y="2884408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Age Distribution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614761" y="3475673"/>
            <a:ext cx="6185535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Average customer age: </a:t>
            </a:r>
            <a:pPr algn="l" indent="0" marL="0">
              <a:lnSpc>
                <a:spcPts val="3000"/>
              </a:lnSpc>
              <a:buNone/>
            </a:pPr>
            <a:r>
              <a:rPr lang="en-US" sz="1850" b="1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44 years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7614761" y="4074081"/>
            <a:ext cx="6185535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Age range: </a:t>
            </a:r>
            <a:pPr algn="l" indent="0" marL="0">
              <a:lnSpc>
                <a:spcPts val="3000"/>
              </a:lnSpc>
              <a:buNone/>
            </a:pPr>
            <a:r>
              <a:rPr lang="en-US" sz="1850" b="1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18–70</a:t>
            </a:r>
            <a:endParaRPr lang="en-US" sz="1850" dirty="0"/>
          </a:p>
        </p:txBody>
      </p:sp>
      <p:sp>
        <p:nvSpPr>
          <p:cNvPr id="7" name="Shape 4"/>
          <p:cNvSpPr/>
          <p:nvPr/>
        </p:nvSpPr>
        <p:spPr>
          <a:xfrm>
            <a:off x="7584281" y="4695825"/>
            <a:ext cx="60960" cy="1418273"/>
          </a:xfrm>
          <a:prstGeom prst="rect">
            <a:avLst/>
          </a:prstGeom>
          <a:solidFill>
            <a:srgbClr val="2D4DF2"/>
          </a:solidFill>
          <a:ln/>
        </p:spPr>
      </p:sp>
      <p:sp>
        <p:nvSpPr>
          <p:cNvPr id="8" name="Text 5"/>
          <p:cNvSpPr/>
          <p:nvPr/>
        </p:nvSpPr>
        <p:spPr>
          <a:xfrm>
            <a:off x="7915037" y="4726305"/>
            <a:ext cx="2642830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Young Adults Lead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7915037" y="5317569"/>
            <a:ext cx="2642830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Highest revenue contributor at $62,143</a:t>
            </a:r>
            <a:endParaRPr lang="en-US" sz="1850" dirty="0"/>
          </a:p>
        </p:txBody>
      </p:sp>
      <p:sp>
        <p:nvSpPr>
          <p:cNvPr id="10" name="Shape 7"/>
          <p:cNvSpPr/>
          <p:nvPr/>
        </p:nvSpPr>
        <p:spPr>
          <a:xfrm>
            <a:off x="10826591" y="4695825"/>
            <a:ext cx="60960" cy="1418273"/>
          </a:xfrm>
          <a:prstGeom prst="rect">
            <a:avLst/>
          </a:prstGeom>
          <a:solidFill>
            <a:srgbClr val="018CE1"/>
          </a:solidFill>
          <a:ln/>
        </p:spPr>
      </p:sp>
      <p:sp>
        <p:nvSpPr>
          <p:cNvPr id="11" name="Text 8"/>
          <p:cNvSpPr/>
          <p:nvPr/>
        </p:nvSpPr>
        <p:spPr>
          <a:xfrm>
            <a:off x="11157347" y="4726305"/>
            <a:ext cx="2642949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Even Spread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1157347" y="5317569"/>
            <a:ext cx="2642949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Revenue fairly balanced across all segments</a:t>
            </a:r>
            <a:endParaRPr lang="en-US" sz="1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75402" y="525661"/>
            <a:ext cx="3960257" cy="4949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850"/>
              </a:lnSpc>
              <a:buNone/>
            </a:pPr>
            <a:r>
              <a:rPr lang="en-US" sz="31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Power BI Dashboard</a:t>
            </a:r>
            <a:endParaRPr lang="en-US" sz="3100" dirty="0"/>
          </a:p>
        </p:txBody>
      </p:sp>
      <p:sp>
        <p:nvSpPr>
          <p:cNvPr id="4" name="Shape 1"/>
          <p:cNvSpPr/>
          <p:nvPr/>
        </p:nvSpPr>
        <p:spPr>
          <a:xfrm>
            <a:off x="6075402" y="1198007"/>
            <a:ext cx="7965996" cy="1537811"/>
          </a:xfrm>
          <a:prstGeom prst="roundRect">
            <a:avLst>
              <a:gd name="adj" fmla="val 16418"/>
            </a:avLst>
          </a:prstGeom>
          <a:solidFill>
            <a:srgbClr val="F3F3FF"/>
          </a:solidFill>
          <a:ln w="15240">
            <a:solidFill>
              <a:srgbClr val="2D4DF2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258878" y="1381482"/>
            <a:ext cx="504944" cy="504944"/>
          </a:xfrm>
          <a:prstGeom prst="roundRect">
            <a:avLst>
              <a:gd name="adj" fmla="val 18107128"/>
            </a:avLst>
          </a:prstGeom>
          <a:solidFill>
            <a:srgbClr val="2D4DF2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97704" y="1520309"/>
            <a:ext cx="227171" cy="22717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258878" y="2004655"/>
            <a:ext cx="1980128" cy="2474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Subscription Status</a:t>
            </a:r>
            <a:endParaRPr lang="en-US" sz="1550" dirty="0"/>
          </a:p>
        </p:txBody>
      </p:sp>
      <p:sp>
        <p:nvSpPr>
          <p:cNvPr id="8" name="Text 4"/>
          <p:cNvSpPr/>
          <p:nvPr/>
        </p:nvSpPr>
        <p:spPr>
          <a:xfrm>
            <a:off x="6258878" y="2323028"/>
            <a:ext cx="7599045" cy="2293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27% Yes / 73% No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6075402" y="2854047"/>
            <a:ext cx="7965996" cy="1537811"/>
          </a:xfrm>
          <a:prstGeom prst="roundRect">
            <a:avLst>
              <a:gd name="adj" fmla="val 16418"/>
            </a:avLst>
          </a:prstGeom>
          <a:solidFill>
            <a:srgbClr val="F3F3FF"/>
          </a:solidFill>
          <a:ln w="15240">
            <a:solidFill>
              <a:srgbClr val="018CE1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258878" y="3037522"/>
            <a:ext cx="504944" cy="504944"/>
          </a:xfrm>
          <a:prstGeom prst="roundRect">
            <a:avLst>
              <a:gd name="adj" fmla="val 18107128"/>
            </a:avLst>
          </a:prstGeom>
          <a:solidFill>
            <a:srgbClr val="018CE1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97704" y="3176349"/>
            <a:ext cx="227171" cy="227171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258878" y="3660696"/>
            <a:ext cx="1980128" cy="2474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Category Revenue</a:t>
            </a:r>
            <a:endParaRPr lang="en-US" sz="1550" dirty="0"/>
          </a:p>
        </p:txBody>
      </p:sp>
      <p:sp>
        <p:nvSpPr>
          <p:cNvPr id="13" name="Text 8"/>
          <p:cNvSpPr/>
          <p:nvPr/>
        </p:nvSpPr>
        <p:spPr>
          <a:xfrm>
            <a:off x="6258878" y="3979069"/>
            <a:ext cx="7599045" cy="2293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Clothing, Accessories, Footwear, Outerwear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6075402" y="4510088"/>
            <a:ext cx="7965996" cy="1537811"/>
          </a:xfrm>
          <a:prstGeom prst="roundRect">
            <a:avLst>
              <a:gd name="adj" fmla="val 16418"/>
            </a:avLst>
          </a:prstGeom>
          <a:solidFill>
            <a:srgbClr val="F3F3FF"/>
          </a:solidFill>
          <a:ln w="15240">
            <a:solidFill>
              <a:srgbClr val="DA33BF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6258878" y="4693563"/>
            <a:ext cx="504944" cy="504944"/>
          </a:xfrm>
          <a:prstGeom prst="roundRect">
            <a:avLst>
              <a:gd name="adj" fmla="val 18107128"/>
            </a:avLst>
          </a:prstGeom>
          <a:solidFill>
            <a:srgbClr val="DA33BF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397704" y="4832390"/>
            <a:ext cx="227171" cy="227171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258878" y="5316736"/>
            <a:ext cx="1980128" cy="2474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Age Group Sales</a:t>
            </a:r>
            <a:endParaRPr lang="en-US" sz="1550" dirty="0"/>
          </a:p>
        </p:txBody>
      </p:sp>
      <p:sp>
        <p:nvSpPr>
          <p:cNvPr id="18" name="Text 12"/>
          <p:cNvSpPr/>
          <p:nvPr/>
        </p:nvSpPr>
        <p:spPr>
          <a:xfrm>
            <a:off x="6258878" y="5635109"/>
            <a:ext cx="7599045" cy="2293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Revenue &amp; sales by age segment</a:t>
            </a:r>
            <a:endParaRPr lang="en-US" sz="1300" dirty="0"/>
          </a:p>
        </p:txBody>
      </p:sp>
      <p:sp>
        <p:nvSpPr>
          <p:cNvPr id="19" name="Shape 13"/>
          <p:cNvSpPr/>
          <p:nvPr/>
        </p:nvSpPr>
        <p:spPr>
          <a:xfrm>
            <a:off x="6075402" y="6166128"/>
            <a:ext cx="7965996" cy="1537811"/>
          </a:xfrm>
          <a:prstGeom prst="roundRect">
            <a:avLst>
              <a:gd name="adj" fmla="val 16418"/>
            </a:avLst>
          </a:prstGeom>
          <a:solidFill>
            <a:srgbClr val="F3F3FF"/>
          </a:solidFill>
          <a:ln w="15240">
            <a:solidFill>
              <a:srgbClr val="2D4DF2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6258878" y="6349603"/>
            <a:ext cx="504944" cy="504944"/>
          </a:xfrm>
          <a:prstGeom prst="roundRect">
            <a:avLst>
              <a:gd name="adj" fmla="val 18107128"/>
            </a:avLst>
          </a:prstGeom>
          <a:solidFill>
            <a:srgbClr val="2D4DF2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397704" y="6488430"/>
            <a:ext cx="227171" cy="227171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258878" y="6972776"/>
            <a:ext cx="1980128" cy="2474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Interactive Filters</a:t>
            </a:r>
            <a:endParaRPr lang="en-US" sz="1550" dirty="0"/>
          </a:p>
        </p:txBody>
      </p:sp>
      <p:sp>
        <p:nvSpPr>
          <p:cNvPr id="23" name="Text 16"/>
          <p:cNvSpPr/>
          <p:nvPr/>
        </p:nvSpPr>
        <p:spPr>
          <a:xfrm>
            <a:off x="6258878" y="7291149"/>
            <a:ext cx="7599045" cy="2293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Gender, category, shipping type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24124" y="1107996"/>
            <a:ext cx="7187208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Business Recommendations</a:t>
            </a:r>
            <a:endParaRPr lang="en-US" sz="44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13897" y="2178427"/>
            <a:ext cx="358973" cy="35897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101959" y="2170986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Grow Subscriptions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7101959" y="2666524"/>
            <a:ext cx="6690717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Attractive benefits to convert non-subscribers</a:t>
            </a:r>
            <a:endParaRPr lang="en-US" sz="18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13897" y="3535740"/>
            <a:ext cx="358973" cy="358973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101959" y="3528298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Loyalty Programs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7101959" y="4023836"/>
            <a:ext cx="6690717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Incentivize the 3,116 loyal customers</a:t>
            </a:r>
            <a:endParaRPr lang="en-US" sz="18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13897" y="4893052"/>
            <a:ext cx="358973" cy="358973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101959" y="4885611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Optimize Discounts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7101959" y="5381149"/>
            <a:ext cx="6690717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Drive sales without hurting margins</a:t>
            </a:r>
            <a:endParaRPr lang="en-US" sz="18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413897" y="6250365"/>
            <a:ext cx="358973" cy="358973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7101959" y="6242923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Targeted Campaigns</a:t>
            </a:r>
            <a:endParaRPr lang="en-US" sz="2200" dirty="0"/>
          </a:p>
        </p:txBody>
      </p:sp>
      <p:sp>
        <p:nvSpPr>
          <p:cNvPr id="15" name="Text 8"/>
          <p:cNvSpPr/>
          <p:nvPr/>
        </p:nvSpPr>
        <p:spPr>
          <a:xfrm>
            <a:off x="7101959" y="6738461"/>
            <a:ext cx="6690717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Focus on young adults &amp; express-shipping buyers</a:t>
            </a:r>
            <a:endParaRPr lang="en-US" sz="1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2026-04-18T09:36:43Z</dcterms:created>
  <dcterms:modified xsi:type="dcterms:W3CDTF">2026-04-18T09:36:43Z</dcterms:modified>
</cp:coreProperties>
</file>